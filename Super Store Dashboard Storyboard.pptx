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lide" id="{79D86F09-25E6-4FD0-B520-FDD1B0219071}">
          <p14:sldIdLst>
            <p14:sldId id="256"/>
          </p14:sldIdLst>
        </p14:section>
        <p14:section name="Business Performance Overview" id="{8F0E5278-F50B-4009-B68D-D86D0C34AC3B}">
          <p14:sldIdLst>
            <p14:sldId id="257"/>
          </p14:sldIdLst>
        </p14:section>
        <p14:section name="Sales &amp; Profit Trends" id="{1F1B6758-FA77-4DAC-A902-A8AFF92E11C7}">
          <p14:sldIdLst>
            <p14:sldId id="258"/>
          </p14:sldIdLst>
        </p14:section>
        <p14:section name="Category Performance" id="{9F9DC789-4092-4AB8-A752-A128B0AAF9DD}">
          <p14:sldIdLst>
            <p14:sldId id="259"/>
          </p14:sldIdLst>
        </p14:section>
        <p14:section name="Regional Sales &amp; Profit" id="{362AF5EF-5E3C-4312-8FB4-D808307EC933}">
          <p14:sldIdLst>
            <p14:sldId id="260"/>
          </p14:sldIdLst>
        </p14:section>
        <p14:section name="Top Customer Analysis" id="{30C644C7-5B95-459F-B43B-F6E6A806A5A7}">
          <p14:sldIdLst>
            <p14:sldId id="261"/>
          </p14:sldIdLst>
        </p14:section>
        <p14:section name="Discount vs Profit Relationship" id="{53309E25-D482-468D-BCE2-B85494C56110}">
          <p14:sldIdLst>
            <p14:sldId id="262"/>
          </p14:sldIdLst>
        </p14:section>
        <p14:section name="Closing Slide" id="{20AC683B-52F2-4AE2-ADD8-6CE7B0707130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A8B041-1FBA-46AC-AA60-F14E681E92D5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C49702-DA85-413F-AABF-C72300C85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8069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C49702-DA85-413F-AABF-C72300C8511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00473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2FA34-D849-2BE6-9AB6-0E541B610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386AC9-FFBD-F696-D544-08635A7C80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CEB0B6-C011-EF40-EAA5-CE9DEF733A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4A3E60-B3AE-C398-E4CA-98E0DA8AA7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C49702-DA85-413F-AABF-C72300C8511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4763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CE177-C8D9-E7A6-0F5D-3A1AA52DF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35CA05-ADCF-4282-932E-4AAFEE17D8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7AFE4-D25D-0774-9F51-58C32193F2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772D51-A691-F808-9935-50301C53EC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C49702-DA85-413F-AABF-C72300C8511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773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418EC-C2FA-9096-BC1B-E8F50DF42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57FAF1-83FA-F045-4360-07F38F0644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D7C9C7-49E8-B3F5-AA97-A62841C5A5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08A9B7-29B2-D215-7CC5-4ACECABBE1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C49702-DA85-413F-AABF-C72300C8511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45837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FCAA5-FE76-B4FA-0036-77FF73FD2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E53D17-B182-CD6E-22E4-5EFCA3906A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AA3A06-E892-9FE8-BDC7-239EB83DB9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952754-AE00-42B9-ABD6-C843C6E22E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C49702-DA85-413F-AABF-C72300C8511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76221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3FB06-8952-2AD8-3086-C7D350814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3581C9-7D4B-7FD5-5A47-8B0E3BCDA1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34750D-DA64-7BCC-40DB-F97A7CB94B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23CD6-C8EC-73E6-8B8E-F63D262CC4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C49702-DA85-413F-AABF-C72300C8511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35856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02EBC-842D-367C-5FF7-0BCCCF206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294F4D-7F0F-604B-7834-EB760768BF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27FDB7-7A60-A172-435D-F334E53E94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0C36AF-91D2-A425-2B0B-5A1D7E3CFF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C49702-DA85-413F-AABF-C72300C8511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5654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46D1D-7C47-C73A-51E9-F430ACC9F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6CC618-A531-6C99-206F-B6BF302D4D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5513C3-C0D0-473D-69C4-9B5088E2CD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72302-A203-6D52-E3CF-A84F974FE2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C49702-DA85-413F-AABF-C72300C85117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9416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36D2D-3E12-1F1C-1F45-898FAE2D1B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1A124D-3236-8B44-3086-99233070B3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565D6-33D1-D761-63D7-DD3ABE2AC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C7FED-AFA6-42D0-89B4-549350A7C9FF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A65FCD-9676-9B46-5ACD-D970DEF2F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0031C8-D78E-112B-78F8-9A0C6B46B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A2826-69CF-4F99-8601-DFE7F30EB9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6605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2BC3A-44F0-C53C-8B3A-0BA1D00DA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C4BF9-1E62-81AA-F5A1-0051A20CE3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8DD94-6FEF-ED54-AA15-AE0FEACB0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C7FED-AFA6-42D0-89B4-549350A7C9FF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83DB97-8ED1-7090-969A-CBDE29233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38F6C-C312-8903-260B-B74D25158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A2826-69CF-4F99-8601-DFE7F30EB9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0827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CA0E0-3ED9-49D9-716E-4FBFF8C5D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8222D0-B46F-2E94-535D-648728D39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89590-D3BE-E90F-82F2-C545679C9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C7FED-AFA6-42D0-89B4-549350A7C9FF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61C73-FD09-53C0-DC2E-EEA35C80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13B06-76C8-F3ED-A4A9-AA29112A7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A2826-69CF-4F99-8601-DFE7F30EB9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5450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044BD-1488-B18B-10AA-74C0A6A66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EE03D-B21F-C94E-C2CC-763F5148D7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73BFA1-3F3B-4C61-4890-D6BF2889A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959378-1AAB-FE10-DCFD-731B02A3C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C7FED-AFA6-42D0-89B4-549350A7C9FF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59B43B-5F1A-A0CD-D9C5-0464741FB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3598EA-DA79-06E9-A5F3-32BEBEB80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A2826-69CF-4F99-8601-DFE7F30EB9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121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26352-B8D1-ECCB-1B3B-94CD79D24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AB864F-EDD4-E6C4-73E0-A41F19D76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F776CB-5DB6-D300-072B-F79F235B2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A8BF69-CE04-4718-48F8-B87D0C8A9D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79B718-02B1-10CD-4528-F429BE9F3A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EFF5AC-119C-B92C-07DE-1031C72BC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C7FED-AFA6-42D0-89B4-549350A7C9FF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55185B-C9BC-CA9C-04F8-6EB96B22D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24CAA6-C6AC-A0C5-F89B-62762537F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A2826-69CF-4F99-8601-DFE7F30EB9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534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D83A8-DB18-EAE2-8322-785596557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BECA7D-D0C3-FCC3-4E92-94A65561D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C7FED-AFA6-42D0-89B4-549350A7C9FF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72FA57-C51A-893E-26D1-F06E5AADE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735986-F49F-CFDF-7A42-388FE5A2F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A2826-69CF-4F99-8601-DFE7F30EB9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0108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C9E619-BDFC-5976-8543-BA482B732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C7FED-AFA6-42D0-89B4-549350A7C9FF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481D30-6C4C-6C0D-7629-AC8C2835C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43BBD9-E5A9-18B3-31F8-9AA3FB5EA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A2826-69CF-4F99-8601-DFE7F30EB9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4631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DBF79-3791-C4C6-6397-61F8AEA6F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5DDA8-8291-4537-4B3F-93A0AABE9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405EA4-3481-ECB2-0EA4-8D291737D9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FDDDB6-7B07-CC68-560F-05DA89966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C7FED-AFA6-42D0-89B4-549350A7C9FF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2D5090-7EAD-378D-3DD9-52DBB35AE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32132D-2ECB-63AE-A9E8-FACA8F955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A2826-69CF-4F99-8601-DFE7F30EB9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8992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C9341-1FBC-904D-85D3-69CC8261C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65ACF2-A97D-D413-1E0F-FEDB49CD61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F19470-7AC2-E051-147E-46FB76748E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72F112-5FA7-7ED9-7AD1-03723D1F7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C7FED-AFA6-42D0-89B4-549350A7C9FF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980087-E38E-B7BA-FFC7-64978BE30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63ED35-41DD-2D33-1E84-6458ED87D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A2826-69CF-4F99-8601-DFE7F30EB9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877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1E308-D981-9BA7-B61C-3C38050C8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721986-B0DA-1886-7501-67B5125AFF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ADD989-84AF-1176-A424-B27538F2E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C7FED-AFA6-42D0-89B4-549350A7C9FF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F3498-21C0-1FD0-A9AB-1BA2D8C3D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17116-F7C2-419E-8F2F-D52CDCCD7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A2826-69CF-4F99-8601-DFE7F30EB9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6179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67F9F5-F112-85B9-E44D-D5433844FB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A982E5-B29B-0FE3-EA03-60FDA87E70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7BBB3-D839-33D2-A5D9-0DB1342CA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C7FED-AFA6-42D0-89B4-549350A7C9FF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06100-DB3C-EA29-552E-B2475D5C8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0785D-3E65-0D45-B355-C7B0F2BCC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A2826-69CF-4F99-8601-DFE7F30EB9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8926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B9578C-6945-B278-CC9A-60E9C33CD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436228-2F53-2403-0989-A29766040E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A710C-722C-E2B0-DD7B-FB89D5541C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8C7FED-AFA6-42D0-89B4-549350A7C9FF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3F98E-6D8D-42CB-3E48-6AA9ACA8D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ECD7C-378C-36B7-4975-5C0C5019CA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DA2826-69CF-4F99-8601-DFE7F30EB9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4292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F8CA1-BFD3-4873-CBDB-8CD59F519B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652" y="157318"/>
            <a:ext cx="11720051" cy="491612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solidFill>
                  <a:schemeClr val="accent1"/>
                </a:solidFill>
              </a:rPr>
              <a:t>Super Store Dashboard Storyboard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9A1EDC-D6FA-E31C-A932-7A9851D8A1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37522" y="731420"/>
            <a:ext cx="2920181" cy="4833638"/>
          </a:xfrm>
        </p:spPr>
        <p:txBody>
          <a:bodyPr/>
          <a:lstStyle/>
          <a:p>
            <a:r>
              <a:rPr lang="en-IN" sz="2800" b="1" dirty="0">
                <a:effectLst/>
              </a:rPr>
              <a:t>Content:</a:t>
            </a:r>
            <a:endParaRPr lang="en-IN" sz="28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>
                <a:effectLst/>
                <a:latin typeface="Bahnschrift Condensed" panose="020B0502040204020203" pitchFamily="34" charset="0"/>
              </a:rPr>
              <a:t>Comprehensive analysis of sales, profit, and customer trends.</a:t>
            </a:r>
            <a:endParaRPr lang="en-IN" dirty="0">
              <a:latin typeface="Bahnschrift Condensed" panose="020B0502040204020203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>
                <a:effectLst/>
                <a:latin typeface="Bahnschrift Condensed" panose="020B0502040204020203" pitchFamily="34" charset="0"/>
              </a:rPr>
              <a:t>Category and regional breakdown for deeper insights.</a:t>
            </a:r>
            <a:endParaRPr lang="en-IN" dirty="0">
              <a:latin typeface="Bahnschrift Condensed" panose="020B0502040204020203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>
                <a:effectLst/>
                <a:latin typeface="Bahnschrift Condensed" panose="020B0502040204020203" pitchFamily="34" charset="0"/>
              </a:rPr>
              <a:t>Strategic recommendations for growth and profitability.</a:t>
            </a:r>
            <a:endParaRPr lang="en-IN" dirty="0">
              <a:latin typeface="Bahnschrift Condensed" panose="020B0502040204020203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F389C52-3202-9ECC-140A-0A640E76C3B3}"/>
              </a:ext>
            </a:extLst>
          </p:cNvPr>
          <p:cNvCxnSpPr/>
          <p:nvPr/>
        </p:nvCxnSpPr>
        <p:spPr>
          <a:xfrm>
            <a:off x="0" y="580103"/>
            <a:ext cx="1220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606A7363-4937-7355-54EA-9B38BC8FFF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887" y="731420"/>
            <a:ext cx="8353555" cy="4833638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E19A3B3-D978-C11F-A40D-79997D2F1E64}"/>
              </a:ext>
            </a:extLst>
          </p:cNvPr>
          <p:cNvSpPr txBox="1"/>
          <p:nvPr/>
        </p:nvSpPr>
        <p:spPr>
          <a:xfrm>
            <a:off x="349887" y="6093231"/>
            <a:ext cx="11346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effectLst/>
              </a:rPr>
              <a:t>Insight: </a:t>
            </a:r>
            <a:r>
              <a:rPr lang="en-IN" b="1" dirty="0"/>
              <a:t> </a:t>
            </a:r>
            <a:r>
              <a:rPr lang="en-IN" dirty="0">
                <a:solidFill>
                  <a:schemeClr val="accent1"/>
                </a:solidFill>
                <a:effectLst/>
                <a:latin typeface="Aptos Narrow" panose="020B0004020202020204" pitchFamily="34" charset="0"/>
              </a:rPr>
              <a:t>“</a:t>
            </a:r>
            <a:r>
              <a:rPr lang="en-IN" dirty="0">
                <a:solidFill>
                  <a:schemeClr val="accent1"/>
                </a:solidFill>
              </a:rPr>
              <a:t>A data‑driven view of business performance, designed to guide smarter decisions</a:t>
            </a:r>
            <a:r>
              <a:rPr lang="en-IN" dirty="0">
                <a:solidFill>
                  <a:schemeClr val="accent1"/>
                </a:solidFill>
                <a:effectLst/>
                <a:latin typeface="Aptos Narrow" panose="020B0004020202020204" pitchFamily="34" charset="0"/>
              </a:rPr>
              <a:t>.”</a:t>
            </a:r>
            <a:endParaRPr lang="en-IN" dirty="0">
              <a:solidFill>
                <a:schemeClr val="accent1"/>
              </a:solidFill>
              <a:latin typeface="Aptos Narrow" panose="020B0004020202020204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DA96B5F-D078-60C4-A6BA-9CAFDBA678E0}"/>
              </a:ext>
            </a:extLst>
          </p:cNvPr>
          <p:cNvCxnSpPr/>
          <p:nvPr/>
        </p:nvCxnSpPr>
        <p:spPr>
          <a:xfrm flipV="1">
            <a:off x="-12000" y="5792043"/>
            <a:ext cx="12204000" cy="7420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144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22C19-EF0B-DD9E-239D-59344CBCE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BF762-D1DD-F42F-F471-FA72CBCC64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652" y="157318"/>
            <a:ext cx="11720051" cy="491612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solidFill>
                  <a:schemeClr val="accent1"/>
                </a:solidFill>
              </a:rPr>
              <a:t>Business Performance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AF0765-6E6D-2AFE-28D4-AEEDD89C94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1949" y="2714546"/>
            <a:ext cx="7295536" cy="2725627"/>
          </a:xfrm>
        </p:spPr>
        <p:txBody>
          <a:bodyPr>
            <a:normAutofit/>
          </a:bodyPr>
          <a:lstStyle/>
          <a:p>
            <a:r>
              <a:rPr lang="en-IN" sz="2800" b="1" dirty="0">
                <a:effectLst/>
              </a:rPr>
              <a:t>Content:</a:t>
            </a:r>
            <a:endParaRPr lang="en-IN" sz="2800" dirty="0"/>
          </a:p>
          <a:p>
            <a:pPr marL="342900" indent="-342900" algn="l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IN" sz="2000" dirty="0">
                <a:effectLst/>
                <a:latin typeface="Aptos Narrow" panose="020B0004020202020204" pitchFamily="34" charset="0"/>
              </a:rPr>
              <a:t>Total Orders: 2K → steady order flow.</a:t>
            </a:r>
            <a:endParaRPr lang="en-IN" sz="2000" dirty="0">
              <a:latin typeface="Aptos Narrow" panose="020B0004020202020204" pitchFamily="34" charset="0"/>
            </a:endParaRPr>
          </a:p>
          <a:p>
            <a:pPr marL="342900" indent="-342900" algn="l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IN" sz="2000" dirty="0">
                <a:effectLst/>
                <a:latin typeface="Aptos Narrow" panose="020B0004020202020204" pitchFamily="34" charset="0"/>
              </a:rPr>
              <a:t>Total Sales: 507.79K → strong revenue growth.</a:t>
            </a:r>
            <a:endParaRPr lang="en-IN" sz="2000" dirty="0">
              <a:latin typeface="Aptos Narrow" panose="020B0004020202020204" pitchFamily="34" charset="0"/>
            </a:endParaRPr>
          </a:p>
          <a:p>
            <a:pPr marL="342900" indent="-342900" algn="l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IN" sz="2000" dirty="0">
                <a:effectLst/>
                <a:latin typeface="Aptos Narrow" panose="020B0004020202020204" pitchFamily="34" charset="0"/>
              </a:rPr>
              <a:t>Total Profit: 127.87K → solid operational performance.</a:t>
            </a:r>
            <a:endParaRPr lang="en-IN" sz="2000" dirty="0">
              <a:latin typeface="Aptos Narrow" panose="020B0004020202020204" pitchFamily="34" charset="0"/>
            </a:endParaRPr>
          </a:p>
          <a:p>
            <a:pPr marL="342900" indent="-342900" algn="l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IN" sz="2000" dirty="0">
                <a:effectLst/>
                <a:latin typeface="Aptos Narrow" panose="020B0004020202020204" pitchFamily="34" charset="0"/>
              </a:rPr>
              <a:t>Profit Margin: 0.25% → efficiency challenges due to discounts/costs.</a:t>
            </a:r>
            <a:endParaRPr lang="en-IN" sz="2000" dirty="0">
              <a:latin typeface="Aptos Narrow" panose="020B00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0E900C7-55A9-444C-7101-63C39A805397}"/>
              </a:ext>
            </a:extLst>
          </p:cNvPr>
          <p:cNvCxnSpPr/>
          <p:nvPr/>
        </p:nvCxnSpPr>
        <p:spPr>
          <a:xfrm>
            <a:off x="0" y="580103"/>
            <a:ext cx="1220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0E368C4-04DF-3794-F233-B25202B5E3C5}"/>
              </a:ext>
            </a:extLst>
          </p:cNvPr>
          <p:cNvSpPr txBox="1"/>
          <p:nvPr/>
        </p:nvSpPr>
        <p:spPr>
          <a:xfrm>
            <a:off x="324464" y="5992454"/>
            <a:ext cx="11346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effectLst/>
              </a:rPr>
              <a:t>Insight: </a:t>
            </a:r>
            <a:r>
              <a:rPr lang="en-IN" b="1" dirty="0"/>
              <a:t> </a:t>
            </a:r>
            <a:r>
              <a:rPr lang="en-IN" dirty="0">
                <a:solidFill>
                  <a:schemeClr val="accent1"/>
                </a:solidFill>
                <a:effectLst/>
                <a:latin typeface="Aptos Narrow" panose="020B0004020202020204" pitchFamily="34" charset="0"/>
              </a:rPr>
              <a:t>“Sales and profit are growing, but margins remain tight. Focus on cost control and discount optimization.”</a:t>
            </a:r>
            <a:endParaRPr lang="en-IN" dirty="0">
              <a:solidFill>
                <a:schemeClr val="accent1"/>
              </a:solidFill>
              <a:latin typeface="Aptos Narrow" panose="020B0004020202020204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8EAF8C0-F2B5-439D-D5C7-F1AC07A9E7EB}"/>
              </a:ext>
            </a:extLst>
          </p:cNvPr>
          <p:cNvCxnSpPr/>
          <p:nvPr/>
        </p:nvCxnSpPr>
        <p:spPr>
          <a:xfrm flipV="1">
            <a:off x="-12000" y="5580813"/>
            <a:ext cx="12204000" cy="7420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D11793BF-357A-3C47-6621-2D1D687085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464" y="1170881"/>
            <a:ext cx="1754386" cy="102171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3DE73D-DBC8-4D6C-734D-FA495B7BAC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5513" y="1170881"/>
            <a:ext cx="1894429" cy="102554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5890158-3850-B6E0-833C-33F7918F17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6605" y="1170882"/>
            <a:ext cx="1894428" cy="102171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52FEC48-05F9-892A-C437-44C6F071D10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4643" y="1139074"/>
            <a:ext cx="1801705" cy="102319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31447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B0F8F-0E3B-43EC-1660-6F9D09DA8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A6157-57BA-C06A-D4CE-FF6759610A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652" y="157318"/>
            <a:ext cx="11720051" cy="491612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solidFill>
                  <a:schemeClr val="accent1"/>
                </a:solidFill>
              </a:rPr>
              <a:t>Sales &amp; Profit Trends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4A7758-998A-B06B-9C8D-3216A24168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91947" y="1202984"/>
            <a:ext cx="3578941" cy="4237189"/>
          </a:xfrm>
        </p:spPr>
        <p:txBody>
          <a:bodyPr>
            <a:normAutofit lnSpcReduction="10000"/>
          </a:bodyPr>
          <a:lstStyle/>
          <a:p>
            <a:r>
              <a:rPr lang="en-IN" sz="2800" b="1" dirty="0">
                <a:effectLst/>
              </a:rPr>
              <a:t>Content:</a:t>
            </a:r>
            <a:endParaRPr lang="en-IN" sz="2800" dirty="0"/>
          </a:p>
          <a:p>
            <a:pPr marL="342900" indent="-342900" algn="l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IN" dirty="0">
                <a:effectLst/>
                <a:latin typeface="Aptos Narrow" panose="020B0004020202020204" pitchFamily="34" charset="0"/>
              </a:rPr>
              <a:t>Sales and Profit show consistent upward growth.</a:t>
            </a:r>
            <a:endParaRPr lang="en-IN" dirty="0">
              <a:latin typeface="Aptos Narrow" panose="020B0004020202020204" pitchFamily="34" charset="0"/>
            </a:endParaRPr>
          </a:p>
          <a:p>
            <a:pPr marL="342900" indent="-342900" algn="l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IN" dirty="0">
                <a:effectLst/>
                <a:latin typeface="Aptos Narrow" panose="020B0004020202020204" pitchFamily="34" charset="0"/>
              </a:rPr>
              <a:t>Clear seasonal peaks in Q4 each year.</a:t>
            </a:r>
            <a:endParaRPr lang="en-IN" dirty="0">
              <a:latin typeface="Aptos Narrow" panose="020B0004020202020204" pitchFamily="34" charset="0"/>
            </a:endParaRPr>
          </a:p>
          <a:p>
            <a:pPr marL="342900" indent="-342900" algn="l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IN" dirty="0">
                <a:effectLst/>
                <a:latin typeface="Aptos Narrow" panose="020B0004020202020204" pitchFamily="34" charset="0"/>
              </a:rPr>
              <a:t>Q4 2017 recorded highest revenue.</a:t>
            </a:r>
            <a:endParaRPr lang="en-IN" dirty="0">
              <a:latin typeface="Aptos Narrow" panose="020B0004020202020204" pitchFamily="34" charset="0"/>
            </a:endParaRPr>
          </a:p>
          <a:p>
            <a:pPr marL="342900" indent="-342900" algn="l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IN" dirty="0">
                <a:effectLst/>
                <a:latin typeface="Aptos Narrow" panose="020B0004020202020204" pitchFamily="34" charset="0"/>
              </a:rPr>
              <a:t>Profit growth slower than sales → margin compression.</a:t>
            </a:r>
            <a:endParaRPr lang="en-IN" dirty="0">
              <a:latin typeface="Aptos Narrow" panose="020B00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B26CFC0-1EE6-CE73-16E5-ACA28B80D2AF}"/>
              </a:ext>
            </a:extLst>
          </p:cNvPr>
          <p:cNvCxnSpPr/>
          <p:nvPr/>
        </p:nvCxnSpPr>
        <p:spPr>
          <a:xfrm>
            <a:off x="0" y="580103"/>
            <a:ext cx="1220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6E23626-27C5-DD6C-5292-DF30B54433B5}"/>
              </a:ext>
            </a:extLst>
          </p:cNvPr>
          <p:cNvSpPr txBox="1"/>
          <p:nvPr/>
        </p:nvSpPr>
        <p:spPr>
          <a:xfrm>
            <a:off x="324464" y="5992454"/>
            <a:ext cx="11346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effectLst/>
              </a:rPr>
              <a:t>Insight: </a:t>
            </a:r>
            <a:r>
              <a:rPr lang="en-IN" dirty="0">
                <a:solidFill>
                  <a:schemeClr val="accent1"/>
                </a:solidFill>
              </a:rPr>
              <a:t>“ Seasonal demand drives Q4 spikes — plan inventory and staffing to maximize profitability.”</a:t>
            </a:r>
            <a:endParaRPr lang="en-IN" dirty="0">
              <a:solidFill>
                <a:schemeClr val="accent1"/>
              </a:solidFill>
              <a:latin typeface="Aptos Narrow" panose="020B0004020202020204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7343D43-5ACC-AAA3-4C45-E98859BFE944}"/>
              </a:ext>
            </a:extLst>
          </p:cNvPr>
          <p:cNvCxnSpPr/>
          <p:nvPr/>
        </p:nvCxnSpPr>
        <p:spPr>
          <a:xfrm flipV="1">
            <a:off x="-12000" y="5580813"/>
            <a:ext cx="12204000" cy="7420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32D94FC-D61D-0D17-2BE7-59E45130CE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637" y="1202984"/>
            <a:ext cx="4674094" cy="323481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31744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98928-1E2E-5AA9-C8DC-3F86EE799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947FF-3AA2-6DCD-C751-256F4A1A39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652" y="157318"/>
            <a:ext cx="11720051" cy="491612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solidFill>
                  <a:schemeClr val="accent1"/>
                </a:solidFill>
              </a:rPr>
              <a:t>Category Performance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1FC3C0-BA2D-D8A1-A689-C379FB51B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5601" y="1514168"/>
            <a:ext cx="5053780" cy="3926005"/>
          </a:xfrm>
        </p:spPr>
        <p:txBody>
          <a:bodyPr>
            <a:normAutofit/>
          </a:bodyPr>
          <a:lstStyle/>
          <a:p>
            <a:r>
              <a:rPr lang="en-IN" sz="2800" b="1" dirty="0">
                <a:effectLst/>
              </a:rPr>
              <a:t>Content:</a:t>
            </a:r>
            <a:endParaRPr lang="en-IN" sz="2800" dirty="0"/>
          </a:p>
          <a:p>
            <a:pPr marL="342900" indent="-342900" algn="l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IN" dirty="0">
                <a:effectLst/>
                <a:latin typeface="Aptos Narrow" panose="020B0004020202020204" pitchFamily="34" charset="0"/>
              </a:rPr>
              <a:t>Copiers and Machines lead profitability.</a:t>
            </a:r>
            <a:endParaRPr lang="en-IN" dirty="0">
              <a:latin typeface="Aptos Narrow" panose="020B0004020202020204" pitchFamily="34" charset="0"/>
            </a:endParaRPr>
          </a:p>
          <a:p>
            <a:pPr marL="342900" indent="-342900" algn="l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IN" dirty="0">
                <a:effectLst/>
                <a:latin typeface="Aptos Narrow" panose="020B0004020202020204" pitchFamily="34" charset="0"/>
              </a:rPr>
              <a:t>Phones and Accessories show moderate profit.</a:t>
            </a:r>
            <a:endParaRPr lang="en-IN" dirty="0">
              <a:latin typeface="Aptos Narrow" panose="020B0004020202020204" pitchFamily="34" charset="0"/>
            </a:endParaRPr>
          </a:p>
          <a:p>
            <a:pPr marL="342900" indent="-342900" algn="l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IN" dirty="0">
                <a:effectLst/>
                <a:latin typeface="Aptos Narrow" panose="020B0004020202020204" pitchFamily="34" charset="0"/>
              </a:rPr>
              <a:t>Furniture and Bookcases lag behind.</a:t>
            </a:r>
            <a:endParaRPr lang="en-IN" dirty="0">
              <a:latin typeface="Aptos Narrow" panose="020B0004020202020204" pitchFamily="34" charset="0"/>
            </a:endParaRPr>
          </a:p>
          <a:p>
            <a:pPr marL="342900" indent="-342900" algn="l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IN" dirty="0">
                <a:effectLst/>
                <a:latin typeface="Aptos Narrow" panose="020B0004020202020204" pitchFamily="34" charset="0"/>
              </a:rPr>
              <a:t>Technology categories drive margins.</a:t>
            </a:r>
            <a:endParaRPr lang="en-IN" dirty="0">
              <a:latin typeface="Aptos Narrow" panose="020B00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B72A25C-C2D8-2E5C-A6D6-B106448C1E0A}"/>
              </a:ext>
            </a:extLst>
          </p:cNvPr>
          <p:cNvCxnSpPr/>
          <p:nvPr/>
        </p:nvCxnSpPr>
        <p:spPr>
          <a:xfrm>
            <a:off x="0" y="580103"/>
            <a:ext cx="1220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80D018B-36AD-0E12-45C8-7379AD48BA40}"/>
              </a:ext>
            </a:extLst>
          </p:cNvPr>
          <p:cNvSpPr txBox="1"/>
          <p:nvPr/>
        </p:nvSpPr>
        <p:spPr>
          <a:xfrm>
            <a:off x="324464" y="5992454"/>
            <a:ext cx="11346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effectLst/>
              </a:rPr>
              <a:t>Insight: </a:t>
            </a:r>
            <a:r>
              <a:rPr lang="en-IN" dirty="0">
                <a:solidFill>
                  <a:schemeClr val="accent1"/>
                </a:solidFill>
              </a:rPr>
              <a:t>“Re‑evaluate pricing for low‑margin categories; expand Technology offerings to sustain growth.”</a:t>
            </a:r>
            <a:endParaRPr lang="en-IN" dirty="0">
              <a:solidFill>
                <a:schemeClr val="accent1"/>
              </a:solidFill>
              <a:latin typeface="Aptos Narrow" panose="020B0004020202020204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6CF0ABD-8115-4A1E-F366-1D728A50B804}"/>
              </a:ext>
            </a:extLst>
          </p:cNvPr>
          <p:cNvCxnSpPr/>
          <p:nvPr/>
        </p:nvCxnSpPr>
        <p:spPr>
          <a:xfrm flipV="1">
            <a:off x="-12000" y="5580813"/>
            <a:ext cx="12204000" cy="7420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E1E82D97-5186-AC28-7244-4A1BE99D10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095" y="1388910"/>
            <a:ext cx="4795301" cy="318308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98949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587D9-BFE4-4AAB-6415-48F2FC188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EE6AD-6A46-6BE2-AD0A-BD07B50E16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652" y="157318"/>
            <a:ext cx="11720051" cy="491612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solidFill>
                  <a:schemeClr val="accent1"/>
                </a:solidFill>
              </a:rPr>
              <a:t>Regional Sales &amp; Profit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28E888-92EB-69ED-969D-431B58ABA7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5601" y="1514168"/>
            <a:ext cx="5053780" cy="3926005"/>
          </a:xfrm>
        </p:spPr>
        <p:txBody>
          <a:bodyPr>
            <a:normAutofit/>
          </a:bodyPr>
          <a:lstStyle/>
          <a:p>
            <a:r>
              <a:rPr lang="en-IN" sz="2800" b="1" dirty="0">
                <a:effectLst/>
              </a:rPr>
              <a:t>Content:</a:t>
            </a:r>
            <a:endParaRPr lang="en-IN" sz="2800" dirty="0"/>
          </a:p>
          <a:p>
            <a:pPr marL="342900" indent="-342900" algn="l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IN" dirty="0">
                <a:effectLst/>
                <a:latin typeface="Aptos Narrow" panose="020B0004020202020204" pitchFamily="34" charset="0"/>
              </a:rPr>
              <a:t>West region dominates in sales and profit.</a:t>
            </a:r>
            <a:endParaRPr lang="en-IN" dirty="0">
              <a:latin typeface="Aptos Narrow" panose="020B0004020202020204" pitchFamily="34" charset="0"/>
            </a:endParaRPr>
          </a:p>
          <a:p>
            <a:pPr marL="342900" indent="-342900" algn="l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IN" dirty="0">
                <a:effectLst/>
                <a:latin typeface="Aptos Narrow" panose="020B0004020202020204" pitchFamily="34" charset="0"/>
              </a:rPr>
              <a:t>East region steady performer.</a:t>
            </a:r>
            <a:endParaRPr lang="en-IN" dirty="0">
              <a:latin typeface="Aptos Narrow" panose="020B0004020202020204" pitchFamily="34" charset="0"/>
            </a:endParaRPr>
          </a:p>
          <a:p>
            <a:pPr marL="342900" indent="-342900" algn="l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IN" dirty="0">
                <a:effectLst/>
                <a:latin typeface="Aptos Narrow" panose="020B0004020202020204" pitchFamily="34" charset="0"/>
              </a:rPr>
              <a:t>South region underperforms significantly.</a:t>
            </a:r>
            <a:endParaRPr lang="en-IN" dirty="0">
              <a:latin typeface="Aptos Narrow" panose="020B0004020202020204" pitchFamily="34" charset="0"/>
            </a:endParaRPr>
          </a:p>
          <a:p>
            <a:pPr marL="342900" indent="-342900" algn="l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IN" dirty="0">
                <a:effectLst/>
                <a:latin typeface="Aptos Narrow" panose="020B0004020202020204" pitchFamily="34" charset="0"/>
              </a:rPr>
              <a:t>Central region shows moderate growth potential.</a:t>
            </a:r>
            <a:endParaRPr lang="en-IN" dirty="0">
              <a:latin typeface="Aptos Narrow" panose="020B00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2C6E730-C5D1-82A7-33D8-6DAEDF944DF3}"/>
              </a:ext>
            </a:extLst>
          </p:cNvPr>
          <p:cNvCxnSpPr/>
          <p:nvPr/>
        </p:nvCxnSpPr>
        <p:spPr>
          <a:xfrm>
            <a:off x="0" y="580103"/>
            <a:ext cx="1220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457C269-3289-28F5-C581-5E080D48FD85}"/>
              </a:ext>
            </a:extLst>
          </p:cNvPr>
          <p:cNvSpPr txBox="1"/>
          <p:nvPr/>
        </p:nvSpPr>
        <p:spPr>
          <a:xfrm>
            <a:off x="324464" y="5992454"/>
            <a:ext cx="11346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effectLst/>
              </a:rPr>
              <a:t>Insight:</a:t>
            </a:r>
            <a:r>
              <a:rPr lang="en-IN" b="1" dirty="0">
                <a:solidFill>
                  <a:schemeClr val="accent1"/>
                </a:solidFill>
                <a:effectLst/>
              </a:rPr>
              <a:t> </a:t>
            </a:r>
            <a:r>
              <a:rPr lang="en-IN" dirty="0">
                <a:solidFill>
                  <a:schemeClr val="accent1"/>
                </a:solidFill>
              </a:rPr>
              <a:t>“Replicate West’s success in weaker regions — focus on localized marketing and logistics efficiency.”</a:t>
            </a:r>
            <a:endParaRPr lang="en-IN" dirty="0">
              <a:solidFill>
                <a:schemeClr val="accent1"/>
              </a:solidFill>
              <a:latin typeface="Aptos Narrow" panose="020B0004020202020204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DE34578-5411-5524-3FFB-1D1C194E216C}"/>
              </a:ext>
            </a:extLst>
          </p:cNvPr>
          <p:cNvCxnSpPr/>
          <p:nvPr/>
        </p:nvCxnSpPr>
        <p:spPr>
          <a:xfrm flipV="1">
            <a:off x="-12000" y="5580813"/>
            <a:ext cx="12204000" cy="7420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134797D7-4425-2335-CA63-44B3F7C9B7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783" y="1426775"/>
            <a:ext cx="4856255" cy="337758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857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DB3ED-900E-2900-22AC-794E0CD7A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E947D-D94A-6F3E-37E9-650AE02132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652" y="157318"/>
            <a:ext cx="11720051" cy="491612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solidFill>
                  <a:schemeClr val="accent1"/>
                </a:solidFill>
              </a:rPr>
              <a:t>Top Customer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989207-4264-EB2B-C496-9C96B60943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5601" y="1514169"/>
            <a:ext cx="5053780" cy="3655004"/>
          </a:xfrm>
        </p:spPr>
        <p:txBody>
          <a:bodyPr>
            <a:normAutofit/>
          </a:bodyPr>
          <a:lstStyle/>
          <a:p>
            <a:r>
              <a:rPr lang="en-IN" sz="2800" b="1" dirty="0">
                <a:effectLst/>
              </a:rPr>
              <a:t>Content:</a:t>
            </a:r>
            <a:endParaRPr lang="en-IN" sz="2800" dirty="0"/>
          </a:p>
          <a:p>
            <a:pPr marL="342900" indent="-342900" algn="l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IN" dirty="0">
                <a:effectLst/>
                <a:latin typeface="Aptos Narrow" panose="020B0004020202020204" pitchFamily="34" charset="0"/>
              </a:rPr>
              <a:t>Top 10 customers contribute ~40% of total sales.</a:t>
            </a:r>
            <a:endParaRPr lang="en-IN" dirty="0">
              <a:latin typeface="Aptos Narrow" panose="020B0004020202020204" pitchFamily="34" charset="0"/>
            </a:endParaRPr>
          </a:p>
          <a:p>
            <a:pPr marL="342900" indent="-342900" algn="l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IN" dirty="0">
                <a:effectLst/>
                <a:latin typeface="Aptos Narrow" panose="020B0004020202020204" pitchFamily="34" charset="0"/>
              </a:rPr>
              <a:t>High repeat purchase rate among premium clients.</a:t>
            </a:r>
            <a:endParaRPr lang="en-IN" dirty="0">
              <a:latin typeface="Aptos Narrow" panose="020B0004020202020204" pitchFamily="34" charset="0"/>
            </a:endParaRPr>
          </a:p>
          <a:p>
            <a:pPr marL="342900" indent="-342900" algn="l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IN" dirty="0">
                <a:effectLst/>
                <a:latin typeface="Aptos Narrow" panose="020B0004020202020204" pitchFamily="34" charset="0"/>
              </a:rPr>
              <a:t>Smaller customers show inconsistent buying patterns.</a:t>
            </a:r>
            <a:endParaRPr lang="en-IN" dirty="0">
              <a:latin typeface="Aptos Narrow" panose="020B00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4C2833B-652D-C279-7492-EDD4190178F6}"/>
              </a:ext>
            </a:extLst>
          </p:cNvPr>
          <p:cNvCxnSpPr/>
          <p:nvPr/>
        </p:nvCxnSpPr>
        <p:spPr>
          <a:xfrm>
            <a:off x="0" y="580103"/>
            <a:ext cx="1220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7E1DC65-5443-464D-7641-82B0BE7756F8}"/>
              </a:ext>
            </a:extLst>
          </p:cNvPr>
          <p:cNvSpPr txBox="1"/>
          <p:nvPr/>
        </p:nvSpPr>
        <p:spPr>
          <a:xfrm>
            <a:off x="324464" y="5992454"/>
            <a:ext cx="11346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effectLst/>
              </a:rPr>
              <a:t>Insight:</a:t>
            </a:r>
            <a:r>
              <a:rPr lang="en-IN" b="1" dirty="0">
                <a:solidFill>
                  <a:schemeClr val="accent1"/>
                </a:solidFill>
                <a:effectLst/>
              </a:rPr>
              <a:t> </a:t>
            </a:r>
            <a:r>
              <a:rPr lang="en-IN" dirty="0">
                <a:solidFill>
                  <a:srgbClr val="0070C0"/>
                </a:solidFill>
                <a:effectLst/>
              </a:rPr>
              <a:t>“Strengthen loyalty programs for top clients; target retention campaigns for mid‑tier customers.”</a:t>
            </a:r>
            <a:endParaRPr lang="en-IN" dirty="0">
              <a:solidFill>
                <a:srgbClr val="0070C0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E5A5AA4-C9A7-F52C-4BBA-AF36679A93DE}"/>
              </a:ext>
            </a:extLst>
          </p:cNvPr>
          <p:cNvCxnSpPr/>
          <p:nvPr/>
        </p:nvCxnSpPr>
        <p:spPr>
          <a:xfrm flipV="1">
            <a:off x="-12000" y="5580813"/>
            <a:ext cx="12204000" cy="7420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639D3529-F38D-E66A-DB36-83DF409EC6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573" y="1439965"/>
            <a:ext cx="4385827" cy="327414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01779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B77E4-7781-3439-684B-7A58660C6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82790-C541-5C2F-DC44-6BA7DF67E5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652" y="157318"/>
            <a:ext cx="11720051" cy="491612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solidFill>
                  <a:srgbClr val="0070C0"/>
                </a:solidFill>
              </a:rPr>
              <a:t>Discount vs Profit Relationship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615C20-7CC4-71D4-D725-A4FA580CD3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5601" y="1277187"/>
            <a:ext cx="5053780" cy="4234799"/>
          </a:xfrm>
        </p:spPr>
        <p:txBody>
          <a:bodyPr>
            <a:normAutofit fontScale="92500" lnSpcReduction="10000"/>
          </a:bodyPr>
          <a:lstStyle/>
          <a:p>
            <a:r>
              <a:rPr lang="en-IN" sz="2800" b="1" dirty="0">
                <a:effectLst/>
              </a:rPr>
              <a:t>Content:</a:t>
            </a:r>
            <a:endParaRPr lang="en-IN" sz="2800" dirty="0"/>
          </a:p>
          <a:p>
            <a:pPr marL="342900" indent="-342900" algn="l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IN" dirty="0">
                <a:effectLst/>
                <a:latin typeface="Aptos Narrow" panose="020B0004020202020204" pitchFamily="34" charset="0"/>
              </a:rPr>
              <a:t>The chart compares </a:t>
            </a:r>
            <a:r>
              <a:rPr lang="en-IN" b="1" dirty="0">
                <a:effectLst/>
                <a:latin typeface="Aptos Narrow" panose="020B0004020202020204" pitchFamily="34" charset="0"/>
              </a:rPr>
              <a:t>discount levels</a:t>
            </a:r>
            <a:r>
              <a:rPr lang="en-IN" dirty="0">
                <a:effectLst/>
                <a:latin typeface="Aptos Narrow" panose="020B0004020202020204" pitchFamily="34" charset="0"/>
              </a:rPr>
              <a:t> (x‑axis) with </a:t>
            </a:r>
            <a:r>
              <a:rPr lang="en-IN" b="1" dirty="0">
                <a:effectLst/>
                <a:latin typeface="Aptos Narrow" panose="020B0004020202020204" pitchFamily="34" charset="0"/>
              </a:rPr>
              <a:t>profit outcomes</a:t>
            </a:r>
            <a:r>
              <a:rPr lang="en-IN" dirty="0">
                <a:effectLst/>
                <a:latin typeface="Aptos Narrow" panose="020B0004020202020204" pitchFamily="34" charset="0"/>
              </a:rPr>
              <a:t> (y‑axis).</a:t>
            </a:r>
            <a:endParaRPr lang="en-IN" dirty="0">
              <a:latin typeface="Aptos Narrow" panose="020B0004020202020204" pitchFamily="34" charset="0"/>
            </a:endParaRPr>
          </a:p>
          <a:p>
            <a:pPr marL="342900" indent="-342900" algn="l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IN" dirty="0">
                <a:effectLst/>
                <a:latin typeface="Aptos Narrow" panose="020B0004020202020204" pitchFamily="34" charset="0"/>
              </a:rPr>
              <a:t>A data point around </a:t>
            </a:r>
            <a:r>
              <a:rPr lang="en-IN" b="1" dirty="0">
                <a:effectLst/>
                <a:latin typeface="Aptos Narrow" panose="020B0004020202020204" pitchFamily="34" charset="0"/>
              </a:rPr>
              <a:t>200 discount → 150K profit</a:t>
            </a:r>
            <a:r>
              <a:rPr lang="en-IN" dirty="0">
                <a:effectLst/>
                <a:latin typeface="Aptos Narrow" panose="020B0004020202020204" pitchFamily="34" charset="0"/>
              </a:rPr>
              <a:t> suggests that even with higher discounts, profit can still be strong in certain cases.</a:t>
            </a:r>
            <a:endParaRPr lang="en-IN" dirty="0">
              <a:latin typeface="Aptos Narrow" panose="020B0004020202020204" pitchFamily="34" charset="0"/>
            </a:endParaRPr>
          </a:p>
          <a:p>
            <a:pPr marL="342900" indent="-342900" algn="l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IN" dirty="0">
                <a:effectLst/>
                <a:latin typeface="Aptos Narrow" panose="020B0004020202020204" pitchFamily="34" charset="0"/>
              </a:rPr>
              <a:t>However, discounts generally reduce margins, so the relationship must be carefully managed.</a:t>
            </a:r>
            <a:endParaRPr lang="en-IN" dirty="0">
              <a:latin typeface="Aptos Narrow" panose="020B0004020202020204" pitchFamily="34" charset="0"/>
            </a:endParaRPr>
          </a:p>
          <a:p>
            <a:pPr marL="342900" indent="-342900" algn="l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IN" dirty="0">
                <a:effectLst/>
                <a:latin typeface="Aptos Narrow" panose="020B0004020202020204" pitchFamily="34" charset="0"/>
              </a:rPr>
              <a:t>Sales volume (third measure) is also influenced by discounting, but excessive discounts risk eroding profitability.</a:t>
            </a:r>
            <a:endParaRPr lang="en-IN" dirty="0">
              <a:latin typeface="Aptos Narrow" panose="020B00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A0B361-4335-8C9A-49DE-10CAC88C23E3}"/>
              </a:ext>
            </a:extLst>
          </p:cNvPr>
          <p:cNvCxnSpPr/>
          <p:nvPr/>
        </p:nvCxnSpPr>
        <p:spPr>
          <a:xfrm>
            <a:off x="0" y="580103"/>
            <a:ext cx="1220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C6EEF2F-8349-A1D0-1E84-644190D9EA29}"/>
              </a:ext>
            </a:extLst>
          </p:cNvPr>
          <p:cNvSpPr txBox="1"/>
          <p:nvPr/>
        </p:nvSpPr>
        <p:spPr>
          <a:xfrm>
            <a:off x="324464" y="5992454"/>
            <a:ext cx="11346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effectLst/>
              </a:rPr>
              <a:t>Insight:</a:t>
            </a:r>
            <a:r>
              <a:rPr lang="en-IN" b="1" dirty="0">
                <a:solidFill>
                  <a:schemeClr val="accent1"/>
                </a:solidFill>
                <a:effectLst/>
              </a:rPr>
              <a:t> </a:t>
            </a:r>
            <a:r>
              <a:rPr lang="en-IN" dirty="0">
                <a:solidFill>
                  <a:srgbClr val="0070C0"/>
                </a:solidFill>
              </a:rPr>
              <a:t>“Discounts can boost sales but may compress margins. Optimal discounting strategy is needed to balance revenue growth with profitability.”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84D453C-A43B-F293-9E02-B2B7BF456BA3}"/>
              </a:ext>
            </a:extLst>
          </p:cNvPr>
          <p:cNvCxnSpPr/>
          <p:nvPr/>
        </p:nvCxnSpPr>
        <p:spPr>
          <a:xfrm flipV="1">
            <a:off x="-12000" y="5580813"/>
            <a:ext cx="12204000" cy="7420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8EE10A5-E6AA-C9E6-2AEB-81E34D3FD0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5563" y="1429018"/>
            <a:ext cx="3960837" cy="326542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34589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38CCD-A3B5-5390-10F2-F283B4607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75EB3-C190-AE5D-6F79-CEFC42FD4D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652" y="157318"/>
            <a:ext cx="11720051" cy="491612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solidFill>
                  <a:srgbClr val="0070C0"/>
                </a:solidFill>
              </a:rPr>
              <a:t>Summary &amp; Next Steps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D02AF9-6A9E-BC69-2AE0-211E55021C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1" y="1002889"/>
            <a:ext cx="5486400" cy="4509097"/>
          </a:xfrm>
        </p:spPr>
        <p:txBody>
          <a:bodyPr>
            <a:normAutofit fontScale="70000" lnSpcReduction="20000"/>
          </a:bodyPr>
          <a:lstStyle/>
          <a:p>
            <a:r>
              <a:rPr lang="en-IN" sz="2800" b="1" dirty="0"/>
              <a:t>Detailed Summary:</a:t>
            </a:r>
          </a:p>
          <a:p>
            <a:pPr marL="342900" indent="-342900" algn="l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IN" b="1" dirty="0">
                <a:effectLst/>
                <a:latin typeface="Aptos Narrow" panose="020B0004020202020204" pitchFamily="34" charset="0"/>
              </a:rPr>
              <a:t>Overall Performance:</a:t>
            </a:r>
            <a:r>
              <a:rPr lang="en-IN" dirty="0">
                <a:effectLst/>
                <a:latin typeface="Aptos Narrow" panose="020B0004020202020204" pitchFamily="34" charset="0"/>
              </a:rPr>
              <a:t> Sales have reached </a:t>
            </a:r>
            <a:r>
              <a:rPr lang="en-IN" b="1" dirty="0">
                <a:effectLst/>
                <a:latin typeface="Aptos Narrow" panose="020B0004020202020204" pitchFamily="34" charset="0"/>
              </a:rPr>
              <a:t>507.79K</a:t>
            </a:r>
            <a:r>
              <a:rPr lang="en-IN" dirty="0">
                <a:effectLst/>
                <a:latin typeface="Aptos Narrow" panose="020B0004020202020204" pitchFamily="34" charset="0"/>
              </a:rPr>
              <a:t> and Profit </a:t>
            </a:r>
            <a:r>
              <a:rPr lang="en-IN" b="1" dirty="0">
                <a:effectLst/>
                <a:latin typeface="Aptos Narrow" panose="020B0004020202020204" pitchFamily="34" charset="0"/>
              </a:rPr>
              <a:t>127.87K</a:t>
            </a:r>
            <a:r>
              <a:rPr lang="en-IN" dirty="0">
                <a:effectLst/>
                <a:latin typeface="Aptos Narrow" panose="020B0004020202020204" pitchFamily="34" charset="0"/>
              </a:rPr>
              <a:t>, showing consistent growth. However, the </a:t>
            </a:r>
            <a:r>
              <a:rPr lang="en-IN" b="1" dirty="0">
                <a:effectLst/>
                <a:latin typeface="Aptos Narrow" panose="020B0004020202020204" pitchFamily="34" charset="0"/>
              </a:rPr>
              <a:t>Profit Margin (0.25%)</a:t>
            </a:r>
            <a:r>
              <a:rPr lang="en-IN" dirty="0">
                <a:effectLst/>
                <a:latin typeface="Aptos Narrow" panose="020B0004020202020204" pitchFamily="34" charset="0"/>
              </a:rPr>
              <a:t> is very low, highlighting cost inefficiencies and heavy discounting.</a:t>
            </a:r>
            <a:endParaRPr lang="en-IN" dirty="0">
              <a:latin typeface="Aptos Narrow" panose="020B0004020202020204" pitchFamily="34" charset="0"/>
            </a:endParaRPr>
          </a:p>
          <a:p>
            <a:pPr marL="342900" indent="-342900" algn="l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IN" b="1" dirty="0">
                <a:effectLst/>
                <a:latin typeface="Aptos Narrow" panose="020B0004020202020204" pitchFamily="34" charset="0"/>
              </a:rPr>
              <a:t>Trends:</a:t>
            </a:r>
            <a:r>
              <a:rPr lang="en-IN" dirty="0">
                <a:effectLst/>
                <a:latin typeface="Aptos Narrow" panose="020B0004020202020204" pitchFamily="34" charset="0"/>
              </a:rPr>
              <a:t> Both Sales and Profit grew steadily, with </a:t>
            </a:r>
            <a:r>
              <a:rPr lang="en-IN" b="1" dirty="0">
                <a:effectLst/>
                <a:latin typeface="Aptos Narrow" panose="020B0004020202020204" pitchFamily="34" charset="0"/>
              </a:rPr>
              <a:t>Q4 spikes</a:t>
            </a:r>
            <a:r>
              <a:rPr lang="en-IN" dirty="0">
                <a:effectLst/>
                <a:latin typeface="Aptos Narrow" panose="020B0004020202020204" pitchFamily="34" charset="0"/>
              </a:rPr>
              <a:t> each year due to holiday demand. This seasonal pattern is predictable and requires proactive planning.</a:t>
            </a:r>
            <a:endParaRPr lang="en-IN" dirty="0">
              <a:latin typeface="Aptos Narrow" panose="020B0004020202020204" pitchFamily="34" charset="0"/>
            </a:endParaRPr>
          </a:p>
          <a:p>
            <a:pPr marL="342900" indent="-342900" algn="l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IN" b="1" dirty="0">
                <a:effectLst/>
                <a:latin typeface="Aptos Narrow" panose="020B0004020202020204" pitchFamily="34" charset="0"/>
              </a:rPr>
              <a:t>Category Insights:</a:t>
            </a:r>
            <a:r>
              <a:rPr lang="en-IN" dirty="0">
                <a:effectLst/>
                <a:latin typeface="Aptos Narrow" panose="020B0004020202020204" pitchFamily="34" charset="0"/>
              </a:rPr>
              <a:t> </a:t>
            </a:r>
            <a:r>
              <a:rPr lang="en-IN" b="1" dirty="0">
                <a:effectLst/>
                <a:latin typeface="Aptos Narrow" panose="020B0004020202020204" pitchFamily="34" charset="0"/>
              </a:rPr>
              <a:t>Copiers and Machines</a:t>
            </a:r>
            <a:r>
              <a:rPr lang="en-IN" dirty="0">
                <a:effectLst/>
                <a:latin typeface="Aptos Narrow" panose="020B0004020202020204" pitchFamily="34" charset="0"/>
              </a:rPr>
              <a:t> are the most profitable categories, while </a:t>
            </a:r>
            <a:r>
              <a:rPr lang="en-IN" b="1" dirty="0">
                <a:effectLst/>
                <a:latin typeface="Aptos Narrow" panose="020B0004020202020204" pitchFamily="34" charset="0"/>
              </a:rPr>
              <a:t>Furniture and Bookcases</a:t>
            </a:r>
            <a:r>
              <a:rPr lang="en-IN" dirty="0">
                <a:effectLst/>
                <a:latin typeface="Aptos Narrow" panose="020B0004020202020204" pitchFamily="34" charset="0"/>
              </a:rPr>
              <a:t> underperform. Technology‑related categories are driving margins, suggesting where investment should focus.</a:t>
            </a:r>
            <a:endParaRPr lang="en-IN" dirty="0">
              <a:latin typeface="Aptos Narrow" panose="020B0004020202020204" pitchFamily="34" charset="0"/>
            </a:endParaRPr>
          </a:p>
          <a:p>
            <a:pPr marL="342900" indent="-342900" algn="l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IN" b="1" dirty="0">
                <a:effectLst/>
                <a:latin typeface="Aptos Narrow" panose="020B0004020202020204" pitchFamily="34" charset="0"/>
              </a:rPr>
              <a:t>Regional Insights:</a:t>
            </a:r>
            <a:r>
              <a:rPr lang="en-IN" dirty="0">
                <a:effectLst/>
                <a:latin typeface="Aptos Narrow" panose="020B0004020202020204" pitchFamily="34" charset="0"/>
              </a:rPr>
              <a:t> The </a:t>
            </a:r>
            <a:r>
              <a:rPr lang="en-IN" b="1" dirty="0">
                <a:effectLst/>
                <a:latin typeface="Aptos Narrow" panose="020B0004020202020204" pitchFamily="34" charset="0"/>
              </a:rPr>
              <a:t>West region</a:t>
            </a:r>
            <a:r>
              <a:rPr lang="en-IN" dirty="0">
                <a:effectLst/>
                <a:latin typeface="Aptos Narrow" panose="020B0004020202020204" pitchFamily="34" charset="0"/>
              </a:rPr>
              <a:t> dominates in both Sales and Profit, while the </a:t>
            </a:r>
            <a:r>
              <a:rPr lang="en-IN" b="1" dirty="0">
                <a:effectLst/>
                <a:latin typeface="Aptos Narrow" panose="020B0004020202020204" pitchFamily="34" charset="0"/>
              </a:rPr>
              <a:t>South region</a:t>
            </a:r>
            <a:r>
              <a:rPr lang="en-IN" dirty="0">
                <a:effectLst/>
                <a:latin typeface="Aptos Narrow" panose="020B0004020202020204" pitchFamily="34" charset="0"/>
              </a:rPr>
              <a:t> lags behind. This imbalance shows untapped potential in weaker regions.</a:t>
            </a:r>
            <a:endParaRPr lang="en-IN" dirty="0">
              <a:latin typeface="Aptos Narrow" panose="020B0004020202020204" pitchFamily="34" charset="0"/>
            </a:endParaRPr>
          </a:p>
          <a:p>
            <a:pPr marL="342900" indent="-342900" algn="l"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n-IN" b="1" dirty="0">
                <a:effectLst/>
                <a:latin typeface="Aptos Narrow" panose="020B0004020202020204" pitchFamily="34" charset="0"/>
              </a:rPr>
              <a:t>Customer Insights:</a:t>
            </a:r>
            <a:r>
              <a:rPr lang="en-IN" dirty="0">
                <a:effectLst/>
                <a:latin typeface="Aptos Narrow" panose="020B0004020202020204" pitchFamily="34" charset="0"/>
              </a:rPr>
              <a:t> The </a:t>
            </a:r>
            <a:r>
              <a:rPr lang="en-IN" b="1" dirty="0">
                <a:effectLst/>
                <a:latin typeface="Aptos Narrow" panose="020B0004020202020204" pitchFamily="34" charset="0"/>
              </a:rPr>
              <a:t>Top 10 customers contribute ~40% of sales</a:t>
            </a:r>
            <a:r>
              <a:rPr lang="en-IN" dirty="0">
                <a:effectLst/>
                <a:latin typeface="Aptos Narrow" panose="020B0004020202020204" pitchFamily="34" charset="0"/>
              </a:rPr>
              <a:t>, showing strong loyalty but also dependency on a small group. Smaller customers are inconsistent, which is a risk for long‑term stability.</a:t>
            </a:r>
            <a:endParaRPr lang="en-IN" dirty="0">
              <a:latin typeface="Aptos Narrow" panose="020B00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EADC14A-FFD9-B27A-D6B0-7035259F86BE}"/>
              </a:ext>
            </a:extLst>
          </p:cNvPr>
          <p:cNvCxnSpPr/>
          <p:nvPr/>
        </p:nvCxnSpPr>
        <p:spPr>
          <a:xfrm>
            <a:off x="0" y="580103"/>
            <a:ext cx="1220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7F76C7A-D8B1-500A-7506-0588941B4165}"/>
              </a:ext>
            </a:extLst>
          </p:cNvPr>
          <p:cNvSpPr txBox="1"/>
          <p:nvPr/>
        </p:nvSpPr>
        <p:spPr>
          <a:xfrm>
            <a:off x="324464" y="5992454"/>
            <a:ext cx="11346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effectLst/>
              </a:rPr>
              <a:t>Insight:</a:t>
            </a:r>
            <a:r>
              <a:rPr lang="en-IN" b="1" dirty="0">
                <a:solidFill>
                  <a:schemeClr val="accent1"/>
                </a:solidFill>
                <a:effectLst/>
              </a:rPr>
              <a:t> </a:t>
            </a:r>
            <a:r>
              <a:rPr lang="en-IN" dirty="0">
                <a:solidFill>
                  <a:srgbClr val="0070C0"/>
                </a:solidFill>
              </a:rPr>
              <a:t>“By addressing margin efficiency, regional gaps, and customer concentration, the Super Store can achieve sustainable growth and long‑term profitability.”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75FA091-4F5A-4904-FF31-1915CDF9C0CF}"/>
              </a:ext>
            </a:extLst>
          </p:cNvPr>
          <p:cNvCxnSpPr/>
          <p:nvPr/>
        </p:nvCxnSpPr>
        <p:spPr>
          <a:xfrm flipV="1">
            <a:off x="-12000" y="5580813"/>
            <a:ext cx="12204000" cy="7420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86E778B-9590-63DF-EB1F-C809CEC8E3CB}"/>
              </a:ext>
            </a:extLst>
          </p:cNvPr>
          <p:cNvSpPr txBox="1"/>
          <p:nvPr/>
        </p:nvSpPr>
        <p:spPr>
          <a:xfrm>
            <a:off x="7236541" y="1233799"/>
            <a:ext cx="462116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effectLst/>
              </a:rPr>
              <a:t>Next Steps (Action Plan):</a:t>
            </a:r>
          </a:p>
          <a:p>
            <a:endParaRPr lang="en-IN" dirty="0"/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IN" dirty="0">
                <a:effectLst/>
                <a:latin typeface="Aptos Narrow" panose="020B0004020202020204" pitchFamily="34" charset="0"/>
              </a:rPr>
              <a:t>Optimize discounting and pricing strategies to protect margins.</a:t>
            </a:r>
            <a:endParaRPr lang="en-IN" dirty="0">
              <a:latin typeface="Aptos Narrow" panose="020B0004020202020204" pitchFamily="34" charset="0"/>
            </a:endParaRPr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IN" dirty="0">
                <a:effectLst/>
                <a:latin typeface="Aptos Narrow" panose="020B0004020202020204" pitchFamily="34" charset="0"/>
              </a:rPr>
              <a:t>Expand high‑margin categories (Technology, Office Supplies).</a:t>
            </a:r>
            <a:endParaRPr lang="en-IN" dirty="0">
              <a:latin typeface="Aptos Narrow" panose="020B0004020202020204" pitchFamily="34" charset="0"/>
            </a:endParaRPr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IN" dirty="0">
                <a:effectLst/>
                <a:latin typeface="Aptos Narrow" panose="020B0004020202020204" pitchFamily="34" charset="0"/>
              </a:rPr>
              <a:t>Launch targeted campaigns to boost South region performance.</a:t>
            </a:r>
            <a:endParaRPr lang="en-IN" dirty="0">
              <a:latin typeface="Aptos Narrow" panose="020B0004020202020204" pitchFamily="34" charset="0"/>
            </a:endParaRPr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IN" dirty="0">
                <a:effectLst/>
                <a:latin typeface="Aptos Narrow" panose="020B0004020202020204" pitchFamily="34" charset="0"/>
              </a:rPr>
              <a:t>Strengthen loyalty programs and retention strategies for top clients.</a:t>
            </a:r>
            <a:endParaRPr lang="en-IN" dirty="0">
              <a:latin typeface="Aptos Narrow" panose="020B0004020202020204" pitchFamily="34" charset="0"/>
            </a:endParaRPr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IN" dirty="0">
                <a:effectLst/>
                <a:latin typeface="Aptos Narrow" panose="020B0004020202020204" pitchFamily="34" charset="0"/>
              </a:rPr>
              <a:t>Diversify customer base to reduce dependency on a few accounts.</a:t>
            </a:r>
            <a:endParaRPr lang="en-IN" dirty="0">
              <a:latin typeface="Aptos Narrow" panose="020B00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0436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689</Words>
  <Application>Microsoft Office PowerPoint</Application>
  <PresentationFormat>Widescreen</PresentationFormat>
  <Paragraphs>70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 Narrow</vt:lpstr>
      <vt:lpstr>Arial</vt:lpstr>
      <vt:lpstr>Bahnschrift Condensed</vt:lpstr>
      <vt:lpstr>Calibri</vt:lpstr>
      <vt:lpstr>Calibri Light</vt:lpstr>
      <vt:lpstr>Wingdings</vt:lpstr>
      <vt:lpstr>Office Theme</vt:lpstr>
      <vt:lpstr>Super Store Dashboard Storyboard</vt:lpstr>
      <vt:lpstr>Business Performance Overview</vt:lpstr>
      <vt:lpstr>Sales &amp; Profit Trends</vt:lpstr>
      <vt:lpstr>Category Performance</vt:lpstr>
      <vt:lpstr>Regional Sales &amp; Profit</vt:lpstr>
      <vt:lpstr>Top Customer Analysis</vt:lpstr>
      <vt:lpstr>Discount vs Profit Relationship</vt:lpstr>
      <vt:lpstr>Summary &amp;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dheeraj kumar</dc:creator>
  <cp:lastModifiedBy>dheeraj kumar</cp:lastModifiedBy>
  <cp:revision>2</cp:revision>
  <dcterms:created xsi:type="dcterms:W3CDTF">2026-07-19T13:02:58Z</dcterms:created>
  <dcterms:modified xsi:type="dcterms:W3CDTF">2026-07-19T14:43:22Z</dcterms:modified>
  <cp:contentStatus>Final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MarkAsFinal">
    <vt:bool>true</vt:bool>
  </property>
</Properties>
</file>